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One line: 'I'm Aryan, M.S. ECE at Rutgers. I chose Topic 2 — agentic AI and anomaly detection for payment integrity — because it's the heart of what Cotiviti does. I'll walk through the analysis, then demo a working prototype called ClaimGuard.' Keep it to ~15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stakes. The numbers are large and real (CMS 2023 FWA recoveries; Medicaid improper-payment range; Cotiviti's own $12B waste estimate). Then the two structural problems: pay-and-chase is reactive, and siloed teams make flags hard to explain. This sets up why agentic, explainable AI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concept in one breath, then give four trends. The fourth — explainability and governance as a requirement, not a nice-to-have — is the one to land on, because it's the bridge to my recommendation and my demo. Cite that federal AI-governance expectations now demand traceable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columns, balanced. Spend a beat on the link between the first threat (false positives on sparse data) and a known behavior in my own demo — the statistical layer over-flags on low counts. That's deliberate honesty and it sets up why human-in-the-loop and a feedback loop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thesis slide — slow down here. The dark banner is the core argument: in the agentic era, raw detection commoditizes; what wins is governed, defensible decisions. Then the two pilot actions. Note that action 2 directly answers the false-positive threat from the previous slide. Tie it explicitly to Cotiviti's position as the trusted payment-integrity partner.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 in one sentence each. Emphasize the agent node (highlighted) and the audit + human-review tail — that's the governance story made concrete. Close on the 'why this design' line: reproducible core + explainable agent + fallback = a demo that can't break on camera.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Screen-share the live app here, not just the screenshot. Point at the KPI row (212 / PAY / PEND / REVIEW / DENY), then the risk-ranked table. Mention the FALLBACK pill honestly: 'the table runs the deterministic path for speed; the live LLM agent runs per-claim.'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chain-reasoning money shot. Read the reasoning box aloud: two rules tripped, then the provider-anomaly signal at 27x peer median, leading to risk 70 and a DENY. Stress that a reviewer can see exactly WHY — that's what makes the decision defensible.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governance thesis. Point to the citation cards, the anomaly callout, and the human-in-the-loop approve/override with 'Record disposition.' Say: 'this is the governance layer from my recommendation, working — citation, confidence, human override, and an audit trail on every decision.'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strong and short. Three reasons this matters to Cotiviti specifically: it's on-mission, it's defensible/audit-ready, and it's a sellable capability as payers adopt agents. End by pointing to the repo with the working code, the report, and this deck. Thank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8686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ClaimGuard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54864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anomaly detection for healthcare payment integrity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48640" y="4343400"/>
            <a:ext cx="3840480" cy="0"/>
          </a:xfrm>
          <a:prstGeom prst="line">
            <a:avLst/>
          </a:prstGeom>
          <a:noFill/>
          <a:ln w="19050">
            <a:solidFill>
              <a:srgbClr val="2E8C8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526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DCE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Intern Performance Demonstration  ·  Topic 2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CE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Amit Nagwekar  ·  Rutgers University, M.S. Electrical &amp; Computer Engineering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loses billions to improper payments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2975" y="420624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417320"/>
            <a:ext cx="3484778" cy="1691640"/>
          </a:xfrm>
          <a:prstGeom prst="roundRect">
            <a:avLst>
              <a:gd name="adj" fmla="val 5405"/>
            </a:avLst>
          </a:prstGeom>
          <a:solidFill>
            <a:srgbClr val="EEF6F5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85800" y="1600200"/>
            <a:ext cx="32104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$14.9B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85800" y="237744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FWA recoveries reported by CMS in 2023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353458" y="1417320"/>
            <a:ext cx="3484778" cy="1691640"/>
          </a:xfrm>
          <a:prstGeom prst="roundRect">
            <a:avLst>
              <a:gd name="adj" fmla="val 5405"/>
            </a:avLst>
          </a:prstGeom>
          <a:solidFill>
            <a:srgbClr val="EEF6F5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490618" y="1600200"/>
            <a:ext cx="32104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5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$50–100B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Medicaid improper payments per year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158277" y="1417320"/>
            <a:ext cx="3484778" cy="1691640"/>
          </a:xfrm>
          <a:prstGeom prst="roundRect">
            <a:avLst>
              <a:gd name="adj" fmla="val 5405"/>
            </a:avLst>
          </a:prstGeom>
          <a:solidFill>
            <a:srgbClr val="EEF6F5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95437" y="1600200"/>
            <a:ext cx="32104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$12B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295437" y="237744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waste Cotiviti targets across its book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342900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F7FAFA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2960" y="3611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structural problems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22960" y="39776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“Pay-and-chase.”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recovery happens after money has already left the door — slow, costly, and abrasive to providers.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teams.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Claims, policy, special investigations, and prior-auth operate separately; the context to explain a flag often surfaces only in meetings.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is moving to agentic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time-series anomaly detection, and chain-reasoning over claims for Treatment, Payment &amp; Operations (TPO).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4328" cy="1691640"/>
          </a:xfrm>
          <a:prstGeom prst="roundRect">
            <a:avLst>
              <a:gd name="adj" fmla="val 4865"/>
            </a:avLst>
          </a:prstGeom>
          <a:solidFill>
            <a:srgbClr val="EEF6F5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38528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7568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3852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Pay-and-chase → prevention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45920" y="2432304"/>
            <a:ext cx="403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generative AI, and agents screen claims before payment, not after.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78728" y="1645920"/>
            <a:ext cx="5364328" cy="1691640"/>
          </a:xfrm>
          <a:prstGeom prst="roundRect">
            <a:avLst>
              <a:gd name="adj" fmla="val 4865"/>
            </a:avLst>
          </a:prstGeom>
          <a:solidFill>
            <a:srgbClr val="EEF6F5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3048" y="1938528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207568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6008" y="193852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tailwind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376008" y="2432304"/>
            <a:ext cx="403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and HHS are scaling AI from post-pay audit to pre-pay screening.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5364328" cy="1691640"/>
          </a:xfrm>
          <a:prstGeom prst="roundRect">
            <a:avLst>
              <a:gd name="adj" fmla="val 4865"/>
            </a:avLst>
          </a:prstGeom>
          <a:solidFill>
            <a:srgbClr val="EEF6F5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904488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04164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90448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coordination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645920" y="4398264"/>
            <a:ext cx="403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reason across the silos that slow human payment-integrity teams.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78728" y="3611880"/>
            <a:ext cx="5364328" cy="1691640"/>
          </a:xfrm>
          <a:prstGeom prst="roundRect">
            <a:avLst>
              <a:gd name="adj" fmla="val 4865"/>
            </a:avLst>
          </a:prstGeom>
          <a:solidFill>
            <a:srgbClr val="EEF6F5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3048" y="3904488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208" y="404164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6008" y="390448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as a requirement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376008" y="4398264"/>
            <a:ext cx="403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Traceable, defensible rationale and human-in-the-loop are now expected.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&amp; threats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64328" cy="4572000"/>
          </a:xfrm>
          <a:prstGeom prst="roundRect">
            <a:avLst>
              <a:gd name="adj" fmla="val 1800"/>
            </a:avLst>
          </a:prstGeom>
          <a:solidFill>
            <a:srgbClr val="ECF6F0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916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73352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7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14400" y="2331720"/>
            <a:ext cx="463280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investigator throughput without adding headcount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improper payments pre-pay — fewer clawbacks, less abrasion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claim, policy, contract &amp; history context in one pass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risk scores strengthen review, appeals &amp; audit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78728" y="1417320"/>
            <a:ext cx="5364328" cy="4572000"/>
          </a:xfrm>
          <a:prstGeom prst="roundRect">
            <a:avLst>
              <a:gd name="adj" fmla="val 1800"/>
            </a:avLst>
          </a:prstGeom>
          <a:solidFill>
            <a:srgbClr val="FBEDEB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336" y="170992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47408" y="1673352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5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6644488" y="2331720"/>
            <a:ext cx="463280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on sparse data → provider abrasion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agents create compliance &amp; litigation risk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actors adopt the same generative &amp; agentic tooling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only as good as data integration &amp; monitoring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govern the agents, not just the claims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687" y="402336"/>
            <a:ext cx="566928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25880"/>
            <a:ext cx="11094415" cy="1234440"/>
          </a:xfrm>
          <a:prstGeom prst="roundRect">
            <a:avLst>
              <a:gd name="adj" fmla="val 6667"/>
            </a:avLst>
          </a:prstGeom>
          <a:solidFill>
            <a:srgbClr val="0F3D3E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68680" y="1481328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commoditizing. </a:t>
            </a:r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durable differentiator is trustworthy, auditable agentic decisions — every determination carrying a chain-of-reasoning, a policy citation, a confidence score, a replayable audit trail, and a human override.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7432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governance &amp; observability layer for payment-integrity AI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5364328" cy="1737360"/>
          </a:xfrm>
          <a:prstGeom prst="roundRect">
            <a:avLst>
              <a:gd name="adj" fmla="val 4737"/>
            </a:avLst>
          </a:prstGeom>
          <a:solidFill>
            <a:srgbClr val="EEF6F5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3538728"/>
            <a:ext cx="603504" cy="60350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366674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557016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Pilot pre-pay review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868680" y="4206240"/>
            <a:ext cx="4724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agentic review on a narrow, high-yield edit set to prove ROI without broad abrasion risk.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278728" y="3246120"/>
            <a:ext cx="5364328" cy="1737360"/>
          </a:xfrm>
          <a:prstGeom prst="roundRect">
            <a:avLst>
              <a:gd name="adj" fmla="val 4737"/>
            </a:avLst>
          </a:prstGeom>
          <a:solidFill>
            <a:srgbClr val="EEF6F5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53048" y="3538728"/>
            <a:ext cx="603504" cy="60350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064" y="366674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30288" y="3557016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Close the feedback loop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6598768" y="4206240"/>
            <a:ext cx="4724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overrides retrain the agents and tune anomaly thresholds — accuracy compounds, false positives fall.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ClaimGuard: 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core for reliability, an LLM agent for explanation — with a fallback so the demo never breaks.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84797" cy="2194560"/>
          </a:xfrm>
          <a:prstGeom prst="roundRect">
            <a:avLst>
              <a:gd name="adj" fmla="val 4607"/>
            </a:avLst>
          </a:prstGeom>
          <a:solidFill>
            <a:srgbClr val="EEF6F5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56990" y="2377440"/>
            <a:ext cx="768096" cy="768096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294" y="2523744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3273552"/>
            <a:ext cx="18384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" y="3675888"/>
            <a:ext cx="17653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CPT / ICD claim lines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515149" y="28803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26045" y="2103120"/>
            <a:ext cx="1984797" cy="2194560"/>
          </a:xfrm>
          <a:prstGeom prst="roundRect">
            <a:avLst>
              <a:gd name="adj" fmla="val 4607"/>
            </a:avLst>
          </a:prstGeom>
          <a:solidFill>
            <a:srgbClr val="EEF6F5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34395" y="2377440"/>
            <a:ext cx="768096" cy="768096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699" y="2523744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99197" y="3273552"/>
            <a:ext cx="18384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Anomaly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935773" y="3675888"/>
            <a:ext cx="17653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NCCI/MUE edits &amp; peer-outlier stats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792553" y="28803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103449" y="2103120"/>
            <a:ext cx="1984797" cy="2194560"/>
          </a:xfrm>
          <a:prstGeom prst="roundRect">
            <a:avLst>
              <a:gd name="adj" fmla="val 4607"/>
            </a:avLst>
          </a:prstGeom>
          <a:solidFill>
            <a:srgbClr val="0F3D3E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11800" y="2377440"/>
            <a:ext cx="768096" cy="768096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04" y="2523744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76601" y="3273552"/>
            <a:ext cx="18384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213177" y="3675888"/>
            <a:ext cx="17653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· score · recommend action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069958" y="28803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380854" y="2103120"/>
            <a:ext cx="1984797" cy="2194560"/>
          </a:xfrm>
          <a:prstGeom prst="roundRect">
            <a:avLst>
              <a:gd name="adj" fmla="val 4607"/>
            </a:avLst>
          </a:prstGeom>
          <a:solidFill>
            <a:srgbClr val="EEF6F5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89204" y="2377440"/>
            <a:ext cx="768096" cy="768096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5508" y="2523744"/>
            <a:ext cx="475488" cy="4754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4006" y="3273552"/>
            <a:ext cx="18384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490582" y="3675888"/>
            <a:ext cx="17653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replayable decision events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9347363" y="28803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658259" y="2103120"/>
            <a:ext cx="1984797" cy="2194560"/>
          </a:xfrm>
          <a:prstGeom prst="roundRect">
            <a:avLst>
              <a:gd name="adj" fmla="val 4607"/>
            </a:avLst>
          </a:prstGeom>
          <a:solidFill>
            <a:srgbClr val="EEF6F5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266609" y="2377440"/>
            <a:ext cx="768096" cy="768096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2913" y="2523744"/>
            <a:ext cx="475488" cy="4754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31411" y="3273552"/>
            <a:ext cx="18384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9767987" y="3675888"/>
            <a:ext cx="17653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override each flag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548640" y="470916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7FAFA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sp>
        <p:nvSpPr>
          <p:cNvPr id="34" name="Text 27"/>
          <p:cNvSpPr/>
          <p:nvPr/>
        </p:nvSpPr>
        <p:spPr>
          <a:xfrm>
            <a:off x="822960" y="484632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and statistics make the verdict reproducible; the agent adds plain-language reasoning and a citation. If the model is unavailable, a deterministic fallback produces the same fields — a flawless live run beats an ambitious one that breaks.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the system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84632" y="1261872"/>
            <a:ext cx="7946136" cy="4560057"/>
          </a:xfrm>
          <a:prstGeom prst="roundRect">
            <a:avLst>
              <a:gd name="adj" fmla="val 1203"/>
            </a:avLst>
          </a:prstGeom>
          <a:solidFill>
            <a:srgbClr val="E7EFEF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pic>
        <p:nvPicPr>
          <p:cNvPr id="4" name="Image 0" descr="/mnt/user-data/uploads/178258567847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818120" cy="443204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325880"/>
            <a:ext cx="2910535" cy="4432041"/>
          </a:xfrm>
          <a:prstGeom prst="roundRect">
            <a:avLst>
              <a:gd name="adj" fmla="val 2513"/>
            </a:avLst>
          </a:prstGeom>
          <a:solidFill>
            <a:srgbClr val="0F3D3E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006840" y="1600200"/>
            <a:ext cx="2361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006840" y="2011680"/>
            <a:ext cx="2361895" cy="3517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 claims triaged and ranked by risk in one view.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gets an action: PAY, PEND, REVIEW, or DENY.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risk and the rules each claim tripped — an investigator sees the worst cases first.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the agent explains its reasoning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84632" y="1261872"/>
            <a:ext cx="7946136" cy="4560057"/>
          </a:xfrm>
          <a:prstGeom prst="roundRect">
            <a:avLst>
              <a:gd name="adj" fmla="val 1203"/>
            </a:avLst>
          </a:prstGeom>
          <a:solidFill>
            <a:srgbClr val="E7EFEF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pic>
        <p:nvPicPr>
          <p:cNvPr id="4" name="Image 0" descr="/mnt/user-data/uploads/1782585693552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818120" cy="443204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325880"/>
            <a:ext cx="2910535" cy="4432041"/>
          </a:xfrm>
          <a:prstGeom prst="roundRect">
            <a:avLst>
              <a:gd name="adj" fmla="val 2513"/>
            </a:avLst>
          </a:prstGeom>
          <a:solidFill>
            <a:srgbClr val="0F3D3E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006840" y="1600200"/>
            <a:ext cx="2361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006840" y="2011680"/>
            <a:ext cx="2361895" cy="3517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flagged claim and the agent shows its work.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policy rules tripped (unbundling + unit cap), plus a provider anomaly: 36415 billed 27× the peer median (z = 2.4).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risk 70/100, recommend DENY — a transparent chain, not a black-box score.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governed by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84632" y="1261872"/>
            <a:ext cx="7946136" cy="4560057"/>
          </a:xfrm>
          <a:prstGeom prst="roundRect">
            <a:avLst>
              <a:gd name="adj" fmla="val 1203"/>
            </a:avLst>
          </a:prstGeom>
          <a:solidFill>
            <a:srgbClr val="E7EFEF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pic>
        <p:nvPicPr>
          <p:cNvPr id="4" name="Image 0" descr="/mnt/user-data/uploads/1782585709640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818120" cy="443204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325880"/>
            <a:ext cx="2910535" cy="4432041"/>
          </a:xfrm>
          <a:prstGeom prst="roundRect">
            <a:avLst>
              <a:gd name="adj" fmla="val 2513"/>
            </a:avLst>
          </a:prstGeom>
          <a:solidFill>
            <a:srgbClr val="0F3D3E"/>
          </a:solidFill>
          <a:ln/>
          <a:effectLst>
            <a:outerShdw sx="100000" sy="100000" kx="0" ky="0" algn="bl" rotWithShape="0" blurRad="101600" dist="38100" dir="5400000">
              <a:srgbClr val="9AA7AB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006840" y="1600200"/>
            <a:ext cx="2361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006840" y="2011680"/>
            <a:ext cx="2361895" cy="3517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carries a citation — NCCI PTP and CMS MUE (illustrative).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anomaly signal is shown explicitly, with its statistical basis.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approves or overrides every flag, and the decision is written to a replayable audit event.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Cotiviti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691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Squarely on mission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234440" y="212140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CE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anomaly detection for payment, treatment &amp; operations is the core of Cotiviti's payment-integrity work.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29260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&amp; audit-ready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234440" y="33558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CE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decisions survive appeals and regulatory scrutiny, and reduce the provider abrasion that erodes trust.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5196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4160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sellable capability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234440" y="459028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CE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“Governed agentic payment integrity” answers the exact trust question Cotiviti's 200+ payers are starting to ask.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548640" y="5715000"/>
            <a:ext cx="3657600" cy="0"/>
          </a:xfrm>
          <a:prstGeom prst="line">
            <a:avLst/>
          </a:prstGeom>
          <a:noFill/>
          <a:ln w="19050">
            <a:solidFill>
              <a:srgbClr val="2E8C84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Amit Nagwekar  ·  Rutgers University  ·  ClaimGuard prototype + full report on GitHub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ClaimGuard — Cotiviti Intern Demonstration</dc:title>
  <dc:subject>PptxGenJS Presentation</dc:subject>
  <dc:creator>Aryan Amit Nagwekar</dc:creator>
  <cp:lastModifiedBy>Aryan Amit Nagwekar</cp:lastModifiedBy>
  <cp:revision>1</cp:revision>
  <dcterms:created xsi:type="dcterms:W3CDTF">2026-06-27T18:46:46Z</dcterms:created>
  <dcterms:modified xsi:type="dcterms:W3CDTF">2026-06-27T18:46:46Z</dcterms:modified>
</cp:coreProperties>
</file>